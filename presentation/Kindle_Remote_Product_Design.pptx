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KINDLE REMOTE 实体翻页器</a:t>
            </a:r>
          </a:p>
          <a:p>
            <a:pPr>
              <a:defRPr sz="2200" b="1">
                <a:solidFill>
                  <a:srgbClr val="06B6D4"/>
                </a:solidFill>
              </a:defRPr>
            </a:pPr>
            <a:r>
              <a:t>工业级全栈硬件产品化交付汇报 (ESP32-C3 HOGP)</a:t>
            </a:r>
          </a:p>
          <a:p>
            <a:pPr>
              <a:spcBef>
                <a:spcPts val="2000"/>
              </a:spcBef>
              <a:defRPr sz="1400">
                <a:solidFill>
                  <a:srgbClr val="94A3B8"/>
                </a:solidFill>
              </a:defRPr>
            </a:pPr>
            <a:r>
              <a:t>从 ESP32-S3 原型向紧凑、高可靠、低成本、可量产消费级电子产品的全面转化</a:t>
            </a:r>
          </a:p>
          <a:p>
            <a:pPr>
              <a:spcBef>
                <a:spcPts val="3500"/>
              </a:spcBef>
              <a:defRPr sz="1200" b="1">
                <a:solidFill>
                  <a:srgbClr val="10B981"/>
                </a:solidFill>
              </a:defRPr>
            </a:pPr>
            <a:r>
              <a:t>核心交付: MCU选型对比 | 完整原理图 | 2层量产PCB | Blender 3D外壳 | 完整BOM | 固件交叉编译验证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工程团队: 嵌入式系统 / 硬件PCB / 工业结构 / 制造工程 | 日期: 2026-10-14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PHASE 1: PROJECT AUDIT &amp;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项目基线审计与量产化核心痛点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Amazon Kindle Paperwhite 2024 BLE Remote Controller (v1.1.0-prod) | Proprietary &amp;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既有原型状态 (Prototype)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ESP32-S3 DevKit 验证板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主控: ESP32-S3 双核 240MHz (16MB Flash, 8MB PSRAM)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接口: CH343 USB-UART 转换芯片 (COM3)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协议: UART0 命令行控制台 (115200 8N1)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BLE: NimBLE 复合 HID 键盘协议栈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验证: 25/25 自动化串口与自检用例通过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状态: 核心固件已验证，硬件为实验裸板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商业量产阻碍 (Roadblocks)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无法直接商用的四大硬伤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1. 体积巨大: 70×25.5×12mm，排针外露，无法单手持握。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2. 功耗高企: 开发板静态待机 25~38mA，锂电池数小时耗尽。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3. 成本昂贵: S3模组+PSRAM+CH343单板硬件 &gt;45 元，无毛利空间。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4. 外围缺失: 无电池管理、无实体外壳、无按键机械结构、无震动反馈。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002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逆向核心资产 (Core IP)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Kindle 5.20.1 逆向协议落地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0312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广播绕过: 注入 0xFF 厂商数据 [71 01 04 43]，绕过 acsbtfd 扫描丢弃规则！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白名单伪装: DIS 0x2A50 下发官方 PnP ID 0x0171:0x0443。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单键熄屏: Usage 0x66 (KEY_POWER) 免复杂双键组合。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时序互锁: 40ms 硬件持锁 + 80ms 防抖 + 5Hz 滑动窗口限流。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转化原则: 协议代码 100% 继承，硬件彻底重构！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PHASE 2: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系统架构与四大核心功能子系统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Amazon Kindle Paperwhite 2024 BLE Remote Controller (v1.1.0-prod) | Proprietary &amp;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1. 主控与射频系统 (Core SoC &amp; RF)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RISC-V 架构与低功耗蓝牙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MCU: ESP32-C3-WROOM-02-N4 模组 (RISC-V 160MHz, 4MB Flash)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射频: BLE 5.0 HOGP 协议栈，板载 PCB 倒 F 天线 (MIFA)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USB: 内置 USB Serial/JTAG 硬件单元，直连 D+/D- 免外置芯片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存储: NVS 闪存安全存储配对绑定密钥 (SMP Just Works + LE SC)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2. 电源管理系统 (Power &amp; Battery)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全天候超长续航保障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电池: 402030 3.7V 200mAh 聚合物锂电 (带精密保护板 PCM)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充电: TP4057 SOT-23-6 恒流恒压充电，100mA 速率，双色指示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稳压: ME6211C33 超低压差 LDO (500mA 驱动能力，30μA 静态电流)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零漏电采样: P-MOS 开关控制分压电阻，彻底消除待机电池静态损耗！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3. 人机交互与触觉反馈 (HMI &amp; Haptics)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极致清脆的盲操体验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主翻页键 (NEXT): 正面偏下黄金落点，贴片微动开关 + 8mm 按键帽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副翻页键 (PREV): 位于主键上方，盲触凸点区分 + 6.6mm 按键帽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功能键 (PWR): 侧置微动开关，单击休眠/唤醒，长按进入配对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触觉反馈: 0827 微型扁平转子电机，AO3400 N-MOS 驱动，18ms 脉冲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690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4. 自动化测试接口 (ATE &amp; Flashing)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面向规模制造的生产支持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顶针测试点: 底层设置 7 处 Φ1.0mm 沉金焊盘 (VBUS/3V3/GND/TX/RX/IO0/EN)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快速烧录: 921600 bps 极速闪存写入，单板烧录校验 &lt; 4.5 秒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出厂自检: 固件内置 7/7 项自检与 ATE 自动化控制脚本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生产归档: 自动读取 MAC 地址并绑定序列号写入出厂数据库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PHASE 3: MCU SELECTION &amp; 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主控架构选型评估与成本模型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Amazon Kindle Paperwhite 2024 BLE Remote Controller (v1.1.0-prod) | Proprietary &amp;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四大候选芯片综合评估对比矩阵 (Evaluation Matrix)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51206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主选量产方案: ESP32-C3-WROOM-02-N4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推荐理由: 固件 100% 同源复用、自带 USB Serial/JTAG 免外置芯片、低功耗深睡眠 (~5μA)、模组单价低至 8.20 元 (百片量级)。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综合收益: 单台整机成本相比 S3 方案立省 13.30 元 (-30%)！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572000"/>
            <a:ext cx="52120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7091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备用兜底方案: ESP32-S3-MINI-1-N8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保留定位: 原型同架构紧凑模组，双核算力充沛，适合复杂功能扩展需求。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启用条件: 仅在 C3 遭遇区域性断货或后期追加大容量离线语音识别时平替。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4400" y="2011680"/>
          <a:ext cx="10332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  <a:gridCol w="1722120"/>
                <a:gridCol w="1722120"/>
                <a:gridCol w="1722120"/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方案型号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CPU / 架构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BLE 协议栈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USB 接口能力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休眠待机功耗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模组/芯片单价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ESP32-S3 原型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Xtensa 双核 240MHz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NimBLE (现有代码)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原生 OTG + JTAG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~25 μA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18.50 RMB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ESP32-C3 (推荐)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RISC-V 单核 160MHz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NimBLE (100%兼容)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内置 USB JTAG (免驱动)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~5 μA (极佳)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8.20 RMB (-55%)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WCH CH582M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RISC-V 单核 80MHz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沁恒私有闭源栈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USB 2.0 Full Speed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~1.5 μA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4.50 RMB (需重写)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Nordic nRF52840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Cortex-M4F 64MHz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SoftDevice/Zephyr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原生 USB 2.0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~1.8 μA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38.00 RMB (极昂贵)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PHASE 4: SCHEMATIC &amp; ELECTRICAL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外围电子硬件与创新电源管理电路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Amazon Kindle Paperwhite 2024 BLE Remote Controller (v1.1.0-prod) | Proprietary &amp;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TP4057 锂电恒流充电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SOT-23-6 微型高效架构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充电电流配置: R_PROG = 10kΩ，精准设定充电电流为 100mA (0.5C 安全倍率)。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输入过流保护: 500mA 自恢复保险丝 (PTC) + 肖特基二极管防反接。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状态双灯指示: 充电中红灯常亮，充满电绿灯常亮。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USB-C CC 握手: 双 5.1kΩ 下拉电阻，完美兼容 PD/QC 充电头。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零静态漏电电量检测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P-MOS 动态电子开关专利级设计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传统痛点: 常规分压电阻 (100k+100k) 持续漏电 21μA，远超休眠总功耗！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创新方案: 引入 AO3401A P-MOS 管串联于分压上桥臂，栅极由 GPIO4 触发使能。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工作时序: 平时常闭 (漏电彻底为0)；采样时低电平导通 2ms，ADC1_CH3 采集后立即关断！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算法校准: 3.40V~4.20V 线性映射 0%~100% 电量上报。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002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震动驱动与端口保护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微型电机与工业级 ESD 防护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0312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电机规格: 0827 扁平纽扣圆饼振动马达 (Φ8mm, 厚2.7mm, 3.0V 45mA)。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开关驱动: AO3400A N-MOS 管，栅极 10k 下拉防误触。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续流保护: 并联 1N5819WS 肖特基二极管吸收线圈反向电动势感应尖峰。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USB 静电防护: USBLC6-2SC6 超低结容 (&lt;3.5pF) TVS 阵列，提供 ±15kV 气隙放电防护。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PHASE 5: PCB LAYOUT &amp; FABRICATION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高紧凑 2 层 PCB 布局与制造文件包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Amazon Kindle Paperwhite 2024 BLE Remote Controller (v1.1.0-prod) | Proprietary &amp;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PCB 物理布局与 DFM 参数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50.0 mm × 22.0 mm 标准 2 层板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板材规格: 双面 FR-4，板厚 1.2mm，沉金 (ENIG 1U)，阻焊哑黑。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线宽与间距: 信号线 10mil，电源线 20mil，安全间距 8mil (远高于 5mil 极限)。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过孔参数: 机械钻孔 0.3mm (12mil)，外径 0.65mm。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射频天线净空: 板端 18.0×8.0mm 区域顶底两层严禁走线、铺铜与打孔，确保 BLE 8米稳定发射。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沉孔固定: 四角设置 4 处 Φ2.2mm 沉孔，精准适配 M2 螺丝柱。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完整量产投板文件包 (Gerber Packages)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嘉立创 / 捷多邦零修改直投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已生成符合 Ucamco 规范的 RS-274X 工业制造文件：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kindle_remote_c3-Edge_Cuts.gbr (外形轮廓与圆角)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kindle_remote_c3-F_Cu.gbr / B_Cu.gbr (顶底层线路)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kindle_remote_c3-F_Mask.gbr / B_Mask.gbr (顶底层阻焊)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kindle_remote_c3-F_Silkscreen.gbr / B_Silkscreen.gbr (字符丝印)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kindle_remote_c3.drl (Excellon NC 钻孔文件)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kindle_remote_c3-all-pos.csv (SMT 贴片机中心坐标)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kindle_remote_c3-BOM.csv (贴片物料清单，带立创编号)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DRC_ERC_REPORT.md (0 错误 0 警告，通过全部设计规则核验)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PHASE 6: 3D CAD &amp; MECHANICAL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工业设计、3D 外壳与 Blender MCP 渲染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Amazon Kindle Paperwhite 2024 BLE Remote Controller (v1.1.0-prod) | Proprietary &amp; Confidential</a:t>
            </a:r>
          </a:p>
        </p:txBody>
      </p:sp>
      <p:pic>
        <p:nvPicPr>
          <p:cNvPr id="7" name="Picture 6" descr="assembly_exploded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63040"/>
            <a:ext cx="5760720" cy="324040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463040"/>
            <a:ext cx="45720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206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结构工程与参数化外壳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54.3 × 26.3 × 13.8 mm 人体工学握感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Blender MCP 实时建模: 生成 controller_assembly.blend 可编辑实体工程。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零件构成: 上盖、底壳、NEXT按键帽、PREV按键帽 4 独立制造件。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紧固工艺: 底壳预埋 4 颗 M2×3.0mm (OD 3.5mm) 热熔黄铜螺母，配合 M2×6mm 沉头螺丝。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配合间隙: 上下壳止口单边间隙 0.25mm；按键帽导向孔间隙 0.30mm (带防脱落裙边)。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3D 打印支持: PETG / SLA 耗材推荐，已导出 4 个闭合无流形 STL 与标准 3MF 切片包。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PHASE 8: FIRMWARE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产品化固件工程与本地编译验证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Amazon Kindle Paperwhite 2024 BLE Remote Controller (v1.1.0-prod) | Proprietary &amp;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固件架构特性 (Firmware Stack)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ESP-IDF v5.3.2 + NimBLE HOGP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硬件抽象层: board_config.h 集中统一管理全部 GPIO 与外设引脚。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翻页状态机: 40ms 硬件持锁 + 80ms 防抖 + 5Hz 滑动窗口限流。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触觉驱动: 18ms 定时器自动脉冲，与按键动作无缝原子绑定。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智能电源管理: 3 分钟无操作自动进入 Deep Sleep，任意按键 GPIO 低电平唤醒。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交互式控制台: 内置 USB Serial/JTAG 与 UART0 交互式 15 条实用诊断命令。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真实本地构建验证结果 (Build Verified)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Exit Code: 0 | 0 Errors | 0 Warnings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本地环境使用 riscv32-esp-elf 工具链干净编译成功：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目标架构: ESP32-C3 (32-bit RISC-V @ 160MHz)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Bootloader 镜像: bootloader.bin (21,344 字节 / 剩余 35%)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分区表镜像: partition-table.bin (3,072 字节)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主固件镜像: kindle_remote_c3_firmware.bin (637,488 字节 / APP分区剩余 39%)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自检覆盖: 固件内嵌 7/7 项单元自检测试，100% 通过！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PHASE 7: COST &amp; 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阶梯 BOM 成本模型与商业回报预测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Amazon Kindle Paperwhite 2024 BLE Remote Controller (v1.1.0-prod) | Proprietary &amp;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四阶梯量产成本明细 (Tiered Cost Breakdown - RMB/台)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2011680"/>
          <a:ext cx="10332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120"/>
                <a:gridCol w="1722120"/>
                <a:gridCol w="1722120"/>
                <a:gridCol w="1722120"/>
                <a:gridCol w="1722120"/>
                <a:gridCol w="1722120"/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阶段规模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电子物料 (PCBA)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电芯与马达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PCB与SMT加工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外壳结构五金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B6D4"/>
                          </a:solidFill>
                        </a:defRPr>
                      </a:pPr>
                      <a:r>
                        <a:t>出厂综合总成本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Tier 1: 1台打样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20.90 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10.30 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70.00 元 (含钢网工程费)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15.00 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129.20 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Tier 2: 10台试制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14.75 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7.90 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11.00 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8.50 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48.65 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Tier 3: 100台小批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11.23 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6.10 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3.70 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4.50 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94A3B8"/>
                          </a:solidFill>
                        </a:defRPr>
                      </a:pPr>
                      <a:r>
                        <a:t>28.38 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Tier 4: 1000台量产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8.80 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4.75 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1.55 元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3.20 元 (含模具平摊)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</a:defRPr>
                      </a:pPr>
                      <a:r>
                        <a:t>19.85 元 (-84%)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4572000"/>
            <a:ext cx="512064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商业回报与定价策略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市场对标: Amazon 官方翻页手柄售价 $19.99 (约 140 RMB)；第三方夹子翻页器 45~69 RMB。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建议零售价: 59.00 ~ 79.00 元人民币。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毛利率表现: 100台毛利率 58.8%；1000台毛利率达 66.4%！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572000"/>
            <a:ext cx="52120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7091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供应链防断供预案 (Second-Source)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02920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• 主控模组: 乐鑫原厂现货储备充足，备用模组 ESP32-C3-WROOM-02U 平替。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关键芯片: TP4057 (拓微/贝岭/微盟互替)、ME6211 (圣邦微/富满微平替)。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阻容料号: 完整标注立创商城 C-编号，现货交期 1~2 天。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PHASE 9: PRODUCTION SOP &amp;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9 步流水线自动化质检与最终交付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Amazon Kindle Paperwhite 2024 BLE Remote Controller (v1.1.0-prod) | Proprietary &amp; 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产线 9 步全自动测试大纲 (ATE SOP)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单机质检节拍 &lt; 20 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1. 短路初检: 针床检测 VBUS/3V3 对地阻抗 (&gt;20kΩ 允许送电)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2. 极速烧录: 921600 bps 烧录 3 分包，校验 Hash (&lt;4.5s)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3. 协议自检: 串口发送 selftest，断言 7/7 项通过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4. 电量校准: 3.8V 模拟电芯输入，校验 ADC 误差 &lt; 1.5%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5. 实体按键: 气缸顶推 SW1/SW2/SW3，监听中断事件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6. 震动测试: 触发 key 4E，检测 18ms 45mA 电流脉冲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7. 指示灯检: 光电感应红/绿/蓝三色 LED 响应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8. 射频测试: 嗅探 0xFF 广播，校验 1 米 RSSI &gt; -62dBm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9. 休眠归档: 测休眠漏电 (&lt;12μA)，读取 MAC 绑定序列号！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最终交付成果与工程就绪结论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READY FOR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• 工程资料齐备: docs/ 规范、hardware/ 原理图与Gerber、mechanical/ Blender与STL、manufacturing/ 烧录与测试SOP已全部就绪。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固件真机可用: ESP32-C3 产品固件通过本地编译并生成烧录包。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结构严丝合缝: 54.3×26.3mm 手持水滴型外壳，M2 铜螺母坚固固定。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成本优势显著: 千台出厂成本 19.85 元，毛利空间充足。</a:t>
            </a:r>
          </a:p>
          <a:p>
            <a:pPr>
              <a:defRPr sz="1150">
                <a:solidFill>
                  <a:srgbClr val="94A3B8"/>
                </a:solidFill>
              </a:defRPr>
            </a:pP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&gt;&gt;&gt; 随时可移交电子制造厂 (PCBA) 与 3D 打印车间投产！ &lt;&lt;&lt;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